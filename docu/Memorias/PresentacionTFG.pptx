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ow Bold" charset="1" panose="00000800000000000000"/>
      <p:regular r:id="rId16"/>
    </p:embeddedFont>
    <p:embeddedFont>
      <p:font typeface="Now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754936">
            <a:off x="9757902" y="3382892"/>
            <a:ext cx="6480330" cy="6674498"/>
          </a:xfrm>
          <a:custGeom>
            <a:avLst/>
            <a:gdLst/>
            <a:ahLst/>
            <a:cxnLst/>
            <a:rect r="r" b="b" t="t" l="l"/>
            <a:pathLst>
              <a:path h="6674498" w="6480330">
                <a:moveTo>
                  <a:pt x="0" y="0"/>
                </a:moveTo>
                <a:lnTo>
                  <a:pt x="6480330" y="0"/>
                </a:lnTo>
                <a:lnTo>
                  <a:pt x="6480330" y="6674497"/>
                </a:lnTo>
                <a:lnTo>
                  <a:pt x="0" y="6674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2430232">
            <a:off x="11368664" y="2073765"/>
            <a:ext cx="6480330" cy="6674498"/>
          </a:xfrm>
          <a:custGeom>
            <a:avLst/>
            <a:gdLst/>
            <a:ahLst/>
            <a:cxnLst/>
            <a:rect r="r" b="b" t="t" l="l"/>
            <a:pathLst>
              <a:path h="6674498" w="6480330">
                <a:moveTo>
                  <a:pt x="6480331" y="0"/>
                </a:moveTo>
                <a:lnTo>
                  <a:pt x="0" y="0"/>
                </a:lnTo>
                <a:lnTo>
                  <a:pt x="0" y="6674497"/>
                </a:lnTo>
                <a:lnTo>
                  <a:pt x="6480331" y="6674497"/>
                </a:lnTo>
                <a:lnTo>
                  <a:pt x="64803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57592">
            <a:off x="9495627" y="479442"/>
            <a:ext cx="6480330" cy="6674498"/>
          </a:xfrm>
          <a:custGeom>
            <a:avLst/>
            <a:gdLst/>
            <a:ahLst/>
            <a:cxnLst/>
            <a:rect r="r" b="b" t="t" l="l"/>
            <a:pathLst>
              <a:path h="6674498" w="6480330">
                <a:moveTo>
                  <a:pt x="0" y="0"/>
                </a:moveTo>
                <a:lnTo>
                  <a:pt x="6480330" y="0"/>
                </a:lnTo>
                <a:lnTo>
                  <a:pt x="6480330" y="6674498"/>
                </a:lnTo>
                <a:lnTo>
                  <a:pt x="0" y="66744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723028" y="2008634"/>
            <a:ext cx="3263368" cy="6457135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-22234" t="0" r="-2223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5997672"/>
            <a:ext cx="8442424" cy="242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b="true" sz="80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COSTURAS CON MIMO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610100"/>
            <a:ext cx="7926806" cy="1071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3557" spc="1266">
                <a:solidFill>
                  <a:srgbClr val="05B4F7"/>
                </a:solidFill>
                <a:latin typeface="Now"/>
                <a:ea typeface="Now"/>
                <a:cs typeface="Now"/>
                <a:sym typeface="Now"/>
              </a:rPr>
              <a:t>TRABAJO DE FIN DE GRADO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028700"/>
            <a:ext cx="7926806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800" spc="640">
                <a:solidFill>
                  <a:srgbClr val="05B4F7"/>
                </a:solidFill>
                <a:latin typeface="Now"/>
                <a:ea typeface="Now"/>
                <a:cs typeface="Now"/>
                <a:sym typeface="Now"/>
              </a:rPr>
              <a:t>PABLO DIAZ DIEZ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607131"/>
            <a:ext cx="7926806" cy="53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800" spc="640">
                <a:solidFill>
                  <a:srgbClr val="05B4F7"/>
                </a:solidFill>
                <a:latin typeface="Now"/>
                <a:ea typeface="Now"/>
                <a:cs typeface="Now"/>
                <a:sym typeface="Now"/>
              </a:rPr>
              <a:t>2º DESARROLLO DE APLICACIONES MULTIPLATAFORMA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45427" y="9258300"/>
            <a:ext cx="7926806" cy="26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2"/>
              </a:lnSpc>
            </a:pPr>
            <a:r>
              <a:rPr lang="en-US" sz="1800" spc="640">
                <a:solidFill>
                  <a:srgbClr val="05B4F7"/>
                </a:solidFill>
                <a:latin typeface="Now"/>
                <a:ea typeface="Now"/>
                <a:cs typeface="Now"/>
                <a:sym typeface="Now"/>
              </a:rPr>
              <a:t>PROFESOR: JOSE MARIA HERRERO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430232">
            <a:off x="8982282" y="6435911"/>
            <a:ext cx="12032802" cy="12393336"/>
          </a:xfrm>
          <a:custGeom>
            <a:avLst/>
            <a:gdLst/>
            <a:ahLst/>
            <a:cxnLst/>
            <a:rect r="r" b="b" t="t" l="l"/>
            <a:pathLst>
              <a:path h="12393336" w="12032802">
                <a:moveTo>
                  <a:pt x="12032802" y="0"/>
                </a:moveTo>
                <a:lnTo>
                  <a:pt x="0" y="0"/>
                </a:lnTo>
                <a:lnTo>
                  <a:pt x="0" y="12393336"/>
                </a:lnTo>
                <a:lnTo>
                  <a:pt x="12032802" y="12393336"/>
                </a:lnTo>
                <a:lnTo>
                  <a:pt x="12032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808220">
            <a:off x="3862283" y="8103328"/>
            <a:ext cx="12256923" cy="12624172"/>
          </a:xfrm>
          <a:custGeom>
            <a:avLst/>
            <a:gdLst/>
            <a:ahLst/>
            <a:cxnLst/>
            <a:rect r="r" b="b" t="t" l="l"/>
            <a:pathLst>
              <a:path h="12624172" w="12256923">
                <a:moveTo>
                  <a:pt x="0" y="0"/>
                </a:moveTo>
                <a:lnTo>
                  <a:pt x="12256923" y="0"/>
                </a:lnTo>
                <a:lnTo>
                  <a:pt x="12256923" y="12624172"/>
                </a:lnTo>
                <a:lnTo>
                  <a:pt x="0" y="12624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01946" y="2662400"/>
            <a:ext cx="9104952" cy="4962199"/>
          </a:xfrm>
          <a:custGeom>
            <a:avLst/>
            <a:gdLst/>
            <a:ahLst/>
            <a:cxnLst/>
            <a:rect r="r" b="b" t="t" l="l"/>
            <a:pathLst>
              <a:path h="4962199" w="9104952">
                <a:moveTo>
                  <a:pt x="0" y="0"/>
                </a:moveTo>
                <a:lnTo>
                  <a:pt x="9104952" y="0"/>
                </a:lnTo>
                <a:lnTo>
                  <a:pt x="9104952" y="4962200"/>
                </a:lnTo>
                <a:lnTo>
                  <a:pt x="0" y="496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673561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PRESENTACION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4529" y="2962081"/>
            <a:ext cx="6163959" cy="472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6"/>
              </a:lnSpc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Costuras con Mimo es una plataforma de e-commerce diseñada para transformar el taller artesanal de mi prima en un negocio digital moderno.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Venta directa de stock físico.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Sistema de encargos 100% personalizados.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Gestión automatizada de pedidos y clientes.</a:t>
            </a:r>
          </a:p>
          <a:p>
            <a:pPr algn="l">
              <a:lnSpc>
                <a:spcPts val="381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7226782">
            <a:off x="9321807" y="-7385684"/>
            <a:ext cx="12032802" cy="12393336"/>
          </a:xfrm>
          <a:custGeom>
            <a:avLst/>
            <a:gdLst/>
            <a:ahLst/>
            <a:cxnLst/>
            <a:rect r="r" b="b" t="t" l="l"/>
            <a:pathLst>
              <a:path h="12393336" w="12032802">
                <a:moveTo>
                  <a:pt x="12032803" y="0"/>
                </a:moveTo>
                <a:lnTo>
                  <a:pt x="0" y="0"/>
                </a:lnTo>
                <a:lnTo>
                  <a:pt x="0" y="12393336"/>
                </a:lnTo>
                <a:lnTo>
                  <a:pt x="12032803" y="12393336"/>
                </a:lnTo>
                <a:lnTo>
                  <a:pt x="1203280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48794">
            <a:off x="14525326" y="-7551765"/>
            <a:ext cx="12256923" cy="12624172"/>
          </a:xfrm>
          <a:custGeom>
            <a:avLst/>
            <a:gdLst/>
            <a:ahLst/>
            <a:cxnLst/>
            <a:rect r="r" b="b" t="t" l="l"/>
            <a:pathLst>
              <a:path h="12624172" w="12256923">
                <a:moveTo>
                  <a:pt x="0" y="0"/>
                </a:moveTo>
                <a:lnTo>
                  <a:pt x="12256923" y="0"/>
                </a:lnTo>
                <a:lnTo>
                  <a:pt x="12256923" y="12624172"/>
                </a:lnTo>
                <a:lnTo>
                  <a:pt x="0" y="12624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3270581"/>
            <a:ext cx="4926076" cy="1543050"/>
            <a:chOff x="0" y="0"/>
            <a:chExt cx="1297403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7403" cy="406400"/>
            </a:xfrm>
            <a:custGeom>
              <a:avLst/>
              <a:gdLst/>
              <a:ahLst/>
              <a:cxnLst/>
              <a:rect r="r" b="b" t="t" l="l"/>
              <a:pathLst>
                <a:path h="406400" w="1297403">
                  <a:moveTo>
                    <a:pt x="0" y="0"/>
                  </a:moveTo>
                  <a:lnTo>
                    <a:pt x="1094203" y="0"/>
                  </a:lnTo>
                  <a:lnTo>
                    <a:pt x="1297403" y="203200"/>
                  </a:lnTo>
                  <a:lnTo>
                    <a:pt x="109420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B4F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77800" y="19050"/>
              <a:ext cx="1043403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  <a:r>
                <a:rPr lang="en-US" sz="2400" spc="33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FRONTEND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80962" y="3270581"/>
            <a:ext cx="4926076" cy="1543050"/>
            <a:chOff x="0" y="0"/>
            <a:chExt cx="1297403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7403" cy="406400"/>
            </a:xfrm>
            <a:custGeom>
              <a:avLst/>
              <a:gdLst/>
              <a:ahLst/>
              <a:cxnLst/>
              <a:rect r="r" b="b" t="t" l="l"/>
              <a:pathLst>
                <a:path h="406400" w="1297403">
                  <a:moveTo>
                    <a:pt x="0" y="0"/>
                  </a:moveTo>
                  <a:lnTo>
                    <a:pt x="1094203" y="0"/>
                  </a:lnTo>
                  <a:lnTo>
                    <a:pt x="1297403" y="203200"/>
                  </a:lnTo>
                  <a:lnTo>
                    <a:pt x="109420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B4F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19050"/>
              <a:ext cx="1043403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  <a:r>
                <a:rPr lang="en-US" sz="2400" spc="33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BACKEND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33224" y="3270581"/>
            <a:ext cx="4926076" cy="1543050"/>
            <a:chOff x="0" y="0"/>
            <a:chExt cx="1297403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7403" cy="406400"/>
            </a:xfrm>
            <a:custGeom>
              <a:avLst/>
              <a:gdLst/>
              <a:ahLst/>
              <a:cxnLst/>
              <a:rect r="r" b="b" t="t" l="l"/>
              <a:pathLst>
                <a:path h="406400" w="1297403">
                  <a:moveTo>
                    <a:pt x="0" y="0"/>
                  </a:moveTo>
                  <a:lnTo>
                    <a:pt x="1094203" y="0"/>
                  </a:lnTo>
                  <a:lnTo>
                    <a:pt x="1297403" y="203200"/>
                  </a:lnTo>
                  <a:lnTo>
                    <a:pt x="109420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B4F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19050"/>
              <a:ext cx="1043403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  <a:r>
                <a:rPr lang="en-US" sz="2400" spc="33">
                  <a:solidFill>
                    <a:srgbClr val="000000"/>
                  </a:solidFill>
                  <a:latin typeface="Now"/>
                  <a:ea typeface="Now"/>
                  <a:cs typeface="Now"/>
                  <a:sym typeface="Now"/>
                </a:rPr>
                <a:t>BASE DE DATOS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871807" y="6679290"/>
            <a:ext cx="2579010" cy="2579010"/>
          </a:xfrm>
          <a:custGeom>
            <a:avLst/>
            <a:gdLst/>
            <a:ahLst/>
            <a:cxnLst/>
            <a:rect r="r" b="b" t="t" l="l"/>
            <a:pathLst>
              <a:path h="2579010" w="2579010">
                <a:moveTo>
                  <a:pt x="0" y="0"/>
                </a:moveTo>
                <a:lnTo>
                  <a:pt x="2579011" y="0"/>
                </a:lnTo>
                <a:lnTo>
                  <a:pt x="2579011" y="2579010"/>
                </a:lnTo>
                <a:lnTo>
                  <a:pt x="0" y="25790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840745" y="6651789"/>
            <a:ext cx="2606511" cy="2606511"/>
          </a:xfrm>
          <a:custGeom>
            <a:avLst/>
            <a:gdLst/>
            <a:ahLst/>
            <a:cxnLst/>
            <a:rect r="r" b="b" t="t" l="l"/>
            <a:pathLst>
              <a:path h="2606511" w="2606511">
                <a:moveTo>
                  <a:pt x="0" y="0"/>
                </a:moveTo>
                <a:lnTo>
                  <a:pt x="2606510" y="0"/>
                </a:lnTo>
                <a:lnTo>
                  <a:pt x="2606510" y="2606511"/>
                </a:lnTo>
                <a:lnTo>
                  <a:pt x="0" y="26065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838155" y="6819757"/>
            <a:ext cx="1986993" cy="2209536"/>
          </a:xfrm>
          <a:custGeom>
            <a:avLst/>
            <a:gdLst/>
            <a:ahLst/>
            <a:cxnLst/>
            <a:rect r="r" b="b" t="t" l="l"/>
            <a:pathLst>
              <a:path h="2209536" w="1986993">
                <a:moveTo>
                  <a:pt x="0" y="0"/>
                </a:moveTo>
                <a:lnTo>
                  <a:pt x="1986993" y="0"/>
                </a:lnTo>
                <a:lnTo>
                  <a:pt x="1986993" y="2209536"/>
                </a:lnTo>
                <a:lnTo>
                  <a:pt x="0" y="22095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057275"/>
            <a:ext cx="841514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HERRAMIENTAS SOFTWARE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1807" y="5345618"/>
            <a:ext cx="3239861" cy="104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2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Vue.js 3 + Vite para una experiencia fluida y reactiva (SPA).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23909" y="5345618"/>
            <a:ext cx="3239861" cy="104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2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Django REST Framework proporcionando una API robusta y segura.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76331" y="5263753"/>
            <a:ext cx="3239861" cy="1041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2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PostgreSQL como motor de base de datos relacional altamente fiable.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563495">
            <a:off x="11139133" y="85653"/>
            <a:ext cx="6660806" cy="6860381"/>
          </a:xfrm>
          <a:custGeom>
            <a:avLst/>
            <a:gdLst/>
            <a:ahLst/>
            <a:cxnLst/>
            <a:rect r="r" b="b" t="t" l="l"/>
            <a:pathLst>
              <a:path h="6860381" w="6660806">
                <a:moveTo>
                  <a:pt x="0" y="0"/>
                </a:moveTo>
                <a:lnTo>
                  <a:pt x="6660806" y="0"/>
                </a:lnTo>
                <a:lnTo>
                  <a:pt x="6660806" y="6860381"/>
                </a:lnTo>
                <a:lnTo>
                  <a:pt x="0" y="6860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146152">
            <a:off x="9683427" y="-5370386"/>
            <a:ext cx="9438759" cy="9721568"/>
          </a:xfrm>
          <a:custGeom>
            <a:avLst/>
            <a:gdLst/>
            <a:ahLst/>
            <a:cxnLst/>
            <a:rect r="r" b="b" t="t" l="l"/>
            <a:pathLst>
              <a:path h="9721568" w="9438759">
                <a:moveTo>
                  <a:pt x="0" y="0"/>
                </a:moveTo>
                <a:lnTo>
                  <a:pt x="9438759" y="0"/>
                </a:lnTo>
                <a:lnTo>
                  <a:pt x="9438759" y="9721568"/>
                </a:lnTo>
                <a:lnTo>
                  <a:pt x="0" y="97215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842389">
            <a:off x="14363315" y="-710703"/>
            <a:ext cx="8664654" cy="8924269"/>
          </a:xfrm>
          <a:custGeom>
            <a:avLst/>
            <a:gdLst/>
            <a:ahLst/>
            <a:cxnLst/>
            <a:rect r="r" b="b" t="t" l="l"/>
            <a:pathLst>
              <a:path h="8924269" w="8664654">
                <a:moveTo>
                  <a:pt x="8664654" y="0"/>
                </a:moveTo>
                <a:lnTo>
                  <a:pt x="0" y="0"/>
                </a:lnTo>
                <a:lnTo>
                  <a:pt x="0" y="8924268"/>
                </a:lnTo>
                <a:lnTo>
                  <a:pt x="8664654" y="8924268"/>
                </a:lnTo>
                <a:lnTo>
                  <a:pt x="86646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37235" y="4085681"/>
            <a:ext cx="8574451" cy="5264713"/>
          </a:xfrm>
          <a:custGeom>
            <a:avLst/>
            <a:gdLst/>
            <a:ahLst/>
            <a:cxnLst/>
            <a:rect r="r" b="b" t="t" l="l"/>
            <a:pathLst>
              <a:path h="5264713" w="8574451">
                <a:moveTo>
                  <a:pt x="0" y="0"/>
                </a:moveTo>
                <a:lnTo>
                  <a:pt x="8574451" y="0"/>
                </a:lnTo>
                <a:lnTo>
                  <a:pt x="8574451" y="5264713"/>
                </a:lnTo>
                <a:lnTo>
                  <a:pt x="0" y="52647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08734" y="1057275"/>
            <a:ext cx="9104943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HERRAMIENTAS HARDWARE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785466"/>
            <a:ext cx="3629750" cy="1394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1800" spc="25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En este caso solo he contado con mi ordenador personal, un teclado, un ratón y dos pantallas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7226782">
            <a:off x="9321807" y="-7385684"/>
            <a:ext cx="12032802" cy="12393336"/>
          </a:xfrm>
          <a:custGeom>
            <a:avLst/>
            <a:gdLst/>
            <a:ahLst/>
            <a:cxnLst/>
            <a:rect r="r" b="b" t="t" l="l"/>
            <a:pathLst>
              <a:path h="12393336" w="12032802">
                <a:moveTo>
                  <a:pt x="12032803" y="0"/>
                </a:moveTo>
                <a:lnTo>
                  <a:pt x="0" y="0"/>
                </a:lnTo>
                <a:lnTo>
                  <a:pt x="0" y="12393336"/>
                </a:lnTo>
                <a:lnTo>
                  <a:pt x="12032803" y="12393336"/>
                </a:lnTo>
                <a:lnTo>
                  <a:pt x="1203280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48794">
            <a:off x="14525326" y="-7551765"/>
            <a:ext cx="12256923" cy="12624172"/>
          </a:xfrm>
          <a:custGeom>
            <a:avLst/>
            <a:gdLst/>
            <a:ahLst/>
            <a:cxnLst/>
            <a:rect r="r" b="b" t="t" l="l"/>
            <a:pathLst>
              <a:path h="12624172" w="12256923">
                <a:moveTo>
                  <a:pt x="0" y="0"/>
                </a:moveTo>
                <a:lnTo>
                  <a:pt x="12256923" y="0"/>
                </a:lnTo>
                <a:lnTo>
                  <a:pt x="12256923" y="12624172"/>
                </a:lnTo>
                <a:lnTo>
                  <a:pt x="0" y="12624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53855" y="3310478"/>
            <a:ext cx="5923842" cy="3945279"/>
          </a:xfrm>
          <a:custGeom>
            <a:avLst/>
            <a:gdLst/>
            <a:ahLst/>
            <a:cxnLst/>
            <a:rect r="r" b="b" t="t" l="l"/>
            <a:pathLst>
              <a:path h="3945279" w="5923842">
                <a:moveTo>
                  <a:pt x="0" y="0"/>
                </a:moveTo>
                <a:lnTo>
                  <a:pt x="5923842" y="0"/>
                </a:lnTo>
                <a:lnTo>
                  <a:pt x="5923842" y="3945279"/>
                </a:lnTo>
                <a:lnTo>
                  <a:pt x="0" y="3945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862515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ARQUITECTURA PRINCIPAL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07647" y="2875578"/>
            <a:ext cx="6163959" cy="472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Modelo Desacoplado: Comunicación mediante JSON a través de una API RESTful.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Seguridad: Autenticación mediante Tokens para el panel de administración.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Pagos: Integración de Stripe Elements para transacciones seguras sin almacenar datos bancarios.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337593">
            <a:off x="7565348" y="-10535986"/>
            <a:ext cx="13107820" cy="13500564"/>
          </a:xfrm>
          <a:custGeom>
            <a:avLst/>
            <a:gdLst/>
            <a:ahLst/>
            <a:cxnLst/>
            <a:rect r="r" b="b" t="t" l="l"/>
            <a:pathLst>
              <a:path h="13500564" w="13107820">
                <a:moveTo>
                  <a:pt x="0" y="0"/>
                </a:moveTo>
                <a:lnTo>
                  <a:pt x="13107821" y="0"/>
                </a:lnTo>
                <a:lnTo>
                  <a:pt x="13107821" y="13500564"/>
                </a:lnTo>
                <a:lnTo>
                  <a:pt x="0" y="13500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6033831">
            <a:off x="14384532" y="-4405968"/>
            <a:ext cx="12032802" cy="12393336"/>
          </a:xfrm>
          <a:custGeom>
            <a:avLst/>
            <a:gdLst/>
            <a:ahLst/>
            <a:cxnLst/>
            <a:rect r="r" b="b" t="t" l="l"/>
            <a:pathLst>
              <a:path h="12393336" w="12032802">
                <a:moveTo>
                  <a:pt x="12032803" y="0"/>
                </a:moveTo>
                <a:lnTo>
                  <a:pt x="0" y="0"/>
                </a:lnTo>
                <a:lnTo>
                  <a:pt x="0" y="12393336"/>
                </a:lnTo>
                <a:lnTo>
                  <a:pt x="12032803" y="12393336"/>
                </a:lnTo>
                <a:lnTo>
                  <a:pt x="1203280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57129" y="2889659"/>
            <a:ext cx="7687005" cy="5640340"/>
          </a:xfrm>
          <a:custGeom>
            <a:avLst/>
            <a:gdLst/>
            <a:ahLst/>
            <a:cxnLst/>
            <a:rect r="r" b="b" t="t" l="l"/>
            <a:pathLst>
              <a:path h="5640340" w="7687005">
                <a:moveTo>
                  <a:pt x="0" y="0"/>
                </a:moveTo>
                <a:lnTo>
                  <a:pt x="7687005" y="0"/>
                </a:lnTo>
                <a:lnTo>
                  <a:pt x="7687005" y="5640340"/>
                </a:lnTo>
                <a:lnTo>
                  <a:pt x="0" y="56403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922490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ESTRUCTURA BASE DE DATOS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87915"/>
            <a:ext cx="8218374" cy="6158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Accesos: Tabla de Usuarios para identificar y gestionar los permisos de las clientas y de la administradora. 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Catálogo Base: Tablas de Categorías y Productos para organizar los artículos, precios y controlar el stock. 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Personalización: Tablas de Tejidos (muestrario de telas) y Encargos (la tabla clave que vincula el producto, la tela elegida y el texto a bordar). </a:t>
            </a:r>
          </a:p>
          <a:p>
            <a:pPr algn="l" marL="518160" indent="-259080" lvl="1">
              <a:lnSpc>
                <a:spcPts val="3816"/>
              </a:lnSpc>
              <a:buFont typeface="Arial"/>
              <a:buChar char="•"/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Gestión de Ventas: Tablas de Pedidos (el ticket global de la compra) y Detalle_Pedido (cada artículo individual, congelando su precio en el momento exacto de la venta).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430232">
            <a:off x="-1104371" y="5602751"/>
            <a:ext cx="12032802" cy="12393336"/>
          </a:xfrm>
          <a:custGeom>
            <a:avLst/>
            <a:gdLst/>
            <a:ahLst/>
            <a:cxnLst/>
            <a:rect r="r" b="b" t="t" l="l"/>
            <a:pathLst>
              <a:path h="12393336" w="12032802">
                <a:moveTo>
                  <a:pt x="12032802" y="0"/>
                </a:moveTo>
                <a:lnTo>
                  <a:pt x="0" y="0"/>
                </a:lnTo>
                <a:lnTo>
                  <a:pt x="0" y="12393336"/>
                </a:lnTo>
                <a:lnTo>
                  <a:pt x="12032802" y="12393336"/>
                </a:lnTo>
                <a:lnTo>
                  <a:pt x="120328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808220">
            <a:off x="-6224370" y="7270168"/>
            <a:ext cx="12256923" cy="12624172"/>
          </a:xfrm>
          <a:custGeom>
            <a:avLst/>
            <a:gdLst/>
            <a:ahLst/>
            <a:cxnLst/>
            <a:rect r="r" b="b" t="t" l="l"/>
            <a:pathLst>
              <a:path h="12624172" w="12256923">
                <a:moveTo>
                  <a:pt x="0" y="0"/>
                </a:moveTo>
                <a:lnTo>
                  <a:pt x="12256923" y="0"/>
                </a:lnTo>
                <a:lnTo>
                  <a:pt x="12256923" y="12624172"/>
                </a:lnTo>
                <a:lnTo>
                  <a:pt x="0" y="12624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355029"/>
            <a:ext cx="6847892" cy="4574392"/>
          </a:xfrm>
          <a:custGeom>
            <a:avLst/>
            <a:gdLst/>
            <a:ahLst/>
            <a:cxnLst/>
            <a:rect r="r" b="b" t="t" l="l"/>
            <a:pathLst>
              <a:path h="4574392" w="6847892">
                <a:moveTo>
                  <a:pt x="0" y="0"/>
                </a:moveTo>
                <a:lnTo>
                  <a:pt x="6847892" y="0"/>
                </a:lnTo>
                <a:lnTo>
                  <a:pt x="6847892" y="4574392"/>
                </a:lnTo>
                <a:lnTo>
                  <a:pt x="0" y="4574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466937" y="1786692"/>
            <a:ext cx="925320" cy="61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66937" y="4178310"/>
            <a:ext cx="925320" cy="61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66937" y="6862408"/>
            <a:ext cx="773162" cy="61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31020" y="1815267"/>
            <a:ext cx="596077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Selector de telas dinámico y opción de bordado con nombre real.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31020" y="4206885"/>
            <a:ext cx="596077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Checkout profesional con Stripe totalmente integrado en el flujo.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31020" y="6910826"/>
            <a:ext cx="5960770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Gestión completa de stock, pedidos y estados de fabricación.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157691"/>
            <a:ext cx="6735617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FUNCIONALIDADES DESTACADAS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31020" y="1389619"/>
            <a:ext cx="3653926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PERSONALIZACION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31020" y="3803932"/>
            <a:ext cx="3653926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PAGOS SEGUROS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31020" y="6482205"/>
            <a:ext cx="3653926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60"/>
              </a:lnSpc>
              <a:spcBef>
                <a:spcPct val="0"/>
              </a:spcBef>
            </a:pPr>
            <a:r>
              <a:rPr lang="en-US" sz="2400" spc="33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DASHBOARD ADMIN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7226782">
            <a:off x="9321807" y="-7385684"/>
            <a:ext cx="12032802" cy="12393336"/>
          </a:xfrm>
          <a:custGeom>
            <a:avLst/>
            <a:gdLst/>
            <a:ahLst/>
            <a:cxnLst/>
            <a:rect r="r" b="b" t="t" l="l"/>
            <a:pathLst>
              <a:path h="12393336" w="12032802">
                <a:moveTo>
                  <a:pt x="12032803" y="0"/>
                </a:moveTo>
                <a:lnTo>
                  <a:pt x="0" y="0"/>
                </a:lnTo>
                <a:lnTo>
                  <a:pt x="0" y="12393336"/>
                </a:lnTo>
                <a:lnTo>
                  <a:pt x="12032803" y="12393336"/>
                </a:lnTo>
                <a:lnTo>
                  <a:pt x="1203280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848794">
            <a:off x="14525326" y="-7551765"/>
            <a:ext cx="12256923" cy="12624172"/>
          </a:xfrm>
          <a:custGeom>
            <a:avLst/>
            <a:gdLst/>
            <a:ahLst/>
            <a:cxnLst/>
            <a:rect r="r" b="b" t="t" l="l"/>
            <a:pathLst>
              <a:path h="12624172" w="12256923">
                <a:moveTo>
                  <a:pt x="0" y="0"/>
                </a:moveTo>
                <a:lnTo>
                  <a:pt x="12256923" y="0"/>
                </a:lnTo>
                <a:lnTo>
                  <a:pt x="12256923" y="12624172"/>
                </a:lnTo>
                <a:lnTo>
                  <a:pt x="0" y="12624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78641" y="4941713"/>
            <a:ext cx="5750608" cy="4987980"/>
          </a:xfrm>
          <a:custGeom>
            <a:avLst/>
            <a:gdLst/>
            <a:ahLst/>
            <a:cxnLst/>
            <a:rect r="r" b="b" t="t" l="l"/>
            <a:pathLst>
              <a:path h="4987980" w="5750608">
                <a:moveTo>
                  <a:pt x="0" y="0"/>
                </a:moveTo>
                <a:lnTo>
                  <a:pt x="5750608" y="0"/>
                </a:lnTo>
                <a:lnTo>
                  <a:pt x="5750608" y="4987980"/>
                </a:lnTo>
                <a:lnTo>
                  <a:pt x="0" y="49879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289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63662" y="2876611"/>
            <a:ext cx="4714980" cy="1811006"/>
            <a:chOff x="0" y="0"/>
            <a:chExt cx="6286640" cy="241467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85725"/>
              <a:ext cx="6099961" cy="977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03"/>
                </a:lnSpc>
              </a:pPr>
              <a:r>
                <a:rPr lang="en-US" sz="4431" spc="381">
                  <a:solidFill>
                    <a:srgbClr val="05B4F7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01021"/>
              <a:ext cx="6099961" cy="753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2"/>
                </a:lnSpc>
              </a:pPr>
              <a:r>
                <a:rPr lang="en-US" sz="1800" spc="154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Seguimiento de envios</a:t>
              </a:r>
            </a:p>
            <a:p>
              <a:pPr algn="l">
                <a:lnSpc>
                  <a:spcPts val="2322"/>
                </a:lnSpc>
              </a:pPr>
              <a:r>
                <a:rPr lang="en-US" sz="1800" spc="154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(Mediante API de Tracking)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042056"/>
              <a:ext cx="6286640" cy="372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2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96455" y="2876611"/>
            <a:ext cx="4714980" cy="1811006"/>
            <a:chOff x="0" y="0"/>
            <a:chExt cx="6286640" cy="241467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85725"/>
              <a:ext cx="6099961" cy="977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03"/>
                </a:lnSpc>
                <a:spcBef>
                  <a:spcPct val="0"/>
                </a:spcBef>
              </a:pPr>
              <a:r>
                <a:rPr lang="en-US" sz="4431" spc="381" u="none">
                  <a:solidFill>
                    <a:srgbClr val="05B4F7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01021"/>
              <a:ext cx="6099961" cy="372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322"/>
                </a:lnSpc>
                <a:spcBef>
                  <a:spcPct val="0"/>
                </a:spcBef>
              </a:pPr>
              <a:r>
                <a:rPr lang="en-US" sz="1800" spc="154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Login social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661056"/>
              <a:ext cx="6286640" cy="753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322"/>
                </a:lnSpc>
                <a:spcBef>
                  <a:spcPct val="0"/>
                </a:spcBef>
              </a:pPr>
              <a:r>
                <a:rPr lang="en-US" sz="1800" spc="154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Vincular la cuenta con Google, Apple, etc..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87406" y="2876611"/>
            <a:ext cx="4714980" cy="1525256"/>
            <a:chOff x="0" y="0"/>
            <a:chExt cx="6286640" cy="203367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85725"/>
              <a:ext cx="6099961" cy="977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03"/>
                </a:lnSpc>
                <a:spcBef>
                  <a:spcPct val="0"/>
                </a:spcBef>
              </a:pPr>
              <a:r>
                <a:rPr lang="en-US" sz="4431" spc="381" u="none">
                  <a:solidFill>
                    <a:srgbClr val="05B4F7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101021"/>
              <a:ext cx="6099961" cy="372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322"/>
                </a:lnSpc>
                <a:spcBef>
                  <a:spcPct val="0"/>
                </a:spcBef>
              </a:pPr>
              <a:r>
                <a:rPr lang="en-US" sz="1800" spc="154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Generación de tickets (PDF)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661056"/>
              <a:ext cx="6286640" cy="372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1">
                <a:lnSpc>
                  <a:spcPts val="2322"/>
                </a:lnSpc>
                <a:spcBef>
                  <a:spcPct val="0"/>
                </a:spcBef>
              </a:pPr>
              <a:r>
                <a:rPr lang="en-US" sz="1800" spc="154">
                  <a:solidFill>
                    <a:srgbClr val="FFFFFF"/>
                  </a:solidFill>
                  <a:latin typeface="Now"/>
                  <a:ea typeface="Now"/>
                  <a:cs typeface="Now"/>
                  <a:sym typeface="Now"/>
                </a:rPr>
                <a:t>Para el tema de logística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1057275"/>
            <a:ext cx="6735617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POSIBLES MEJORAS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337593">
            <a:off x="7565348" y="-10535986"/>
            <a:ext cx="13107820" cy="13500564"/>
          </a:xfrm>
          <a:custGeom>
            <a:avLst/>
            <a:gdLst/>
            <a:ahLst/>
            <a:cxnLst/>
            <a:rect r="r" b="b" t="t" l="l"/>
            <a:pathLst>
              <a:path h="13500564" w="13107820">
                <a:moveTo>
                  <a:pt x="0" y="0"/>
                </a:moveTo>
                <a:lnTo>
                  <a:pt x="13107821" y="0"/>
                </a:lnTo>
                <a:lnTo>
                  <a:pt x="13107821" y="13500564"/>
                </a:lnTo>
                <a:lnTo>
                  <a:pt x="0" y="135005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6033831">
            <a:off x="14384532" y="-4405968"/>
            <a:ext cx="12032802" cy="12393336"/>
          </a:xfrm>
          <a:custGeom>
            <a:avLst/>
            <a:gdLst/>
            <a:ahLst/>
            <a:cxnLst/>
            <a:rect r="r" b="b" t="t" l="l"/>
            <a:pathLst>
              <a:path h="12393336" w="12032802">
                <a:moveTo>
                  <a:pt x="12032803" y="0"/>
                </a:moveTo>
                <a:lnTo>
                  <a:pt x="0" y="0"/>
                </a:lnTo>
                <a:lnTo>
                  <a:pt x="0" y="12393336"/>
                </a:lnTo>
                <a:lnTo>
                  <a:pt x="12032803" y="12393336"/>
                </a:lnTo>
                <a:lnTo>
                  <a:pt x="1203280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37900" y="2475779"/>
            <a:ext cx="8011176" cy="5335443"/>
          </a:xfrm>
          <a:custGeom>
            <a:avLst/>
            <a:gdLst/>
            <a:ahLst/>
            <a:cxnLst/>
            <a:rect r="r" b="b" t="t" l="l"/>
            <a:pathLst>
              <a:path h="5335443" w="8011176">
                <a:moveTo>
                  <a:pt x="0" y="0"/>
                </a:moveTo>
                <a:lnTo>
                  <a:pt x="8011176" y="0"/>
                </a:lnTo>
                <a:lnTo>
                  <a:pt x="8011176" y="5335442"/>
                </a:lnTo>
                <a:lnTo>
                  <a:pt x="0" y="53354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922490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RECURSOS BIBLIOGRAFICOS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18845"/>
            <a:ext cx="4612455" cy="309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0566" indent="-245283" lvl="1">
              <a:lnSpc>
                <a:spcPts val="3544"/>
              </a:lnSpc>
              <a:spcBef>
                <a:spcPct val="0"/>
              </a:spcBef>
              <a:buFont typeface="Arial"/>
              <a:buChar char="•"/>
            </a:pPr>
            <a:r>
              <a:rPr lang="en-US" sz="2272" spc="31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Docum</a:t>
            </a:r>
            <a:r>
              <a:rPr lang="en-US" sz="2272" spc="31" u="none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entación Oficial: Vue.js, Django &amp; Stripe.</a:t>
            </a:r>
          </a:p>
          <a:p>
            <a:pPr algn="l" marL="490566" indent="-245283" lvl="1">
              <a:lnSpc>
                <a:spcPts val="3544"/>
              </a:lnSpc>
              <a:spcBef>
                <a:spcPct val="0"/>
              </a:spcBef>
              <a:buFont typeface="Arial"/>
              <a:buChar char="•"/>
            </a:pPr>
            <a:r>
              <a:rPr lang="en-US" sz="2272" spc="31" u="none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Tutoriales: Auth0 (Building modern Apps).</a:t>
            </a:r>
          </a:p>
          <a:p>
            <a:pPr algn="l" marL="490566" indent="-245283" lvl="1">
              <a:lnSpc>
                <a:spcPts val="3544"/>
              </a:lnSpc>
              <a:spcBef>
                <a:spcPct val="0"/>
              </a:spcBef>
              <a:buFont typeface="Arial"/>
              <a:buChar char="•"/>
            </a:pPr>
            <a:r>
              <a:rPr lang="en-US" sz="2272" spc="31" u="none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Recursos UI: FontAwesome &amp; Google Fonts.</a:t>
            </a:r>
          </a:p>
          <a:p>
            <a:pPr algn="l">
              <a:lnSpc>
                <a:spcPts val="354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7520" y="3135630"/>
            <a:ext cx="11772960" cy="403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0"/>
              </a:lnSpc>
            </a:pPr>
            <a:r>
              <a:rPr lang="en-US" sz="9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¡GRACIAS POR SU ATENCIÓN!</a:t>
            </a:r>
          </a:p>
          <a:p>
            <a:pPr algn="l">
              <a:lnSpc>
                <a:spcPts val="1053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-227277">
            <a:off x="11786278" y="3397479"/>
            <a:ext cx="6660806" cy="6860381"/>
          </a:xfrm>
          <a:custGeom>
            <a:avLst/>
            <a:gdLst/>
            <a:ahLst/>
            <a:cxnLst/>
            <a:rect r="r" b="b" t="t" l="l"/>
            <a:pathLst>
              <a:path h="6860381" w="6660806">
                <a:moveTo>
                  <a:pt x="0" y="0"/>
                </a:moveTo>
                <a:lnTo>
                  <a:pt x="6660806" y="0"/>
                </a:lnTo>
                <a:lnTo>
                  <a:pt x="6660806" y="6860381"/>
                </a:lnTo>
                <a:lnTo>
                  <a:pt x="0" y="6860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90065">
            <a:off x="14420816" y="1825485"/>
            <a:ext cx="9438759" cy="9721568"/>
          </a:xfrm>
          <a:custGeom>
            <a:avLst/>
            <a:gdLst/>
            <a:ahLst/>
            <a:cxnLst/>
            <a:rect r="r" b="b" t="t" l="l"/>
            <a:pathLst>
              <a:path h="9721568" w="9438759">
                <a:moveTo>
                  <a:pt x="0" y="0"/>
                </a:moveTo>
                <a:lnTo>
                  <a:pt x="9438759" y="0"/>
                </a:lnTo>
                <a:lnTo>
                  <a:pt x="9438759" y="9721569"/>
                </a:lnTo>
                <a:lnTo>
                  <a:pt x="0" y="9721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06172">
            <a:off x="10627212" y="6595285"/>
            <a:ext cx="8664654" cy="8924269"/>
          </a:xfrm>
          <a:custGeom>
            <a:avLst/>
            <a:gdLst/>
            <a:ahLst/>
            <a:cxnLst/>
            <a:rect r="r" b="b" t="t" l="l"/>
            <a:pathLst>
              <a:path h="8924269" w="8664654">
                <a:moveTo>
                  <a:pt x="8664654" y="0"/>
                </a:moveTo>
                <a:lnTo>
                  <a:pt x="0" y="0"/>
                </a:lnTo>
                <a:lnTo>
                  <a:pt x="0" y="8924269"/>
                </a:lnTo>
                <a:lnTo>
                  <a:pt x="8664654" y="8924269"/>
                </a:lnTo>
                <a:lnTo>
                  <a:pt x="866465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DAHKJLfrUPY</dc:identifier>
  <dcterms:modified xsi:type="dcterms:W3CDTF">2011-08-01T06:04:30Z</dcterms:modified>
  <cp:revision>1</cp:revision>
  <dc:title>Presentación Proyecto Tecnológico Startup Elegante Negro</dc:title>
</cp:coreProperties>
</file>